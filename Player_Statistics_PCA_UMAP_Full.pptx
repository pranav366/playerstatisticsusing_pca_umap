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8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509273d-c077-edfa-998c-aedf8d7be17e}">
          <p14:sldIdLst>
            <p14:sldId id="256"/>
          </p14:sldIdLst>
        </p14:section>
        <p14:section name="Problem Definition" id="{dd70348c-cb44-e50a-87ce-4fea1c0acc85}">
          <p14:sldIdLst>
            <p14:sldId id="257"/>
            <p14:sldId id="258"/>
          </p14:sldIdLst>
        </p14:section>
        <p14:section name="Dataset Collection" id="{08289c39-1344-9fb3-3266-a4334497a5fd}">
          <p14:sldIdLst>
            <p14:sldId id="259"/>
            <p14:sldId id="260"/>
            <p14:sldId id="261"/>
          </p14:sldIdLst>
        </p14:section>
        <p14:section name="Data Understanding" id="{715d8933-e17c-0d4d-1419-44c8e7566cd2}">
          <p14:sldIdLst>
            <p14:sldId id="262"/>
            <p14:sldId id="263"/>
            <p14:sldId id="264"/>
            <p14:sldId id="265"/>
          </p14:sldIdLst>
        </p14:section>
        <p14:section name="Data Preprocessing" id="{355f5452-a2ad-8887-a63f-074e7c440690}">
          <p14:sldIdLst>
            <p14:sldId id="266"/>
            <p14:sldId id="267"/>
          </p14:sldIdLst>
        </p14:section>
        <p14:section name="Exploratory Data Analysis" id="{0d83745c-59b2-9f25-8964-e56c13fd9b80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Feature Selection and Engineering" id="{48be3539-702e-cad0-1b29-a4cf44d619cd}">
          <p14:sldIdLst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43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432A"/>
                </a:solidFill>
                <a:latin typeface="+mn-lt"/>
              </a:rPr>
              <a:t>Avg. missing values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</c:v>
                </c:pt>
              </c:strCache>
            </c:strRef>
          </c:tx>
          <c:spPr>
            <a:solidFill>
              <a:srgbClr val="C840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Profile</c:v>
                  </c:pt>
                  <c:pt idx="1">
                    <c:v>IPL batting</c:v>
                  </c:pt>
                  <c:pt idx="2">
                    <c:v>IPL bowling</c:v>
                  </c:pt>
                  <c:pt idx="3">
                    <c:v>2nd-fmt batting</c:v>
                  </c:pt>
                  <c:pt idx="4">
                    <c:v>2nd-fmt bowling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31</c:v>
                </c:pt>
                <c:pt idx="2">
                  <c:v>37</c:v>
                </c:pt>
                <c:pt idx="3">
                  <c:v>56</c:v>
                </c:pt>
                <c:pt idx="4">
                  <c:v>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B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B1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43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432A"/>
                </a:solidFill>
                <a:latin typeface="+mn-lt"/>
              </a:rPr>
              <a:t>Career runs (histogram)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Players</c:v>
                </c:pt>
              </c:strCache>
            </c:strRef>
          </c:tx>
          <c:spPr>
            <a:solidFill>
              <a:srgbClr val="1F7A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&lt;250</c:v>
                  </c:pt>
                  <c:pt idx="1">
                    <c:v>250-500</c:v>
                  </c:pt>
                  <c:pt idx="2">
                    <c:v>500-1k</c:v>
                  </c:pt>
                  <c:pt idx="3">
                    <c:v>1k-2k</c:v>
                  </c:pt>
                  <c:pt idx="4">
                    <c:v>2k-3k</c:v>
                  </c:pt>
                  <c:pt idx="5">
                    <c:v>3k+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12</c:v>
                </c:pt>
                <c:pt idx="2">
                  <c:v>16</c:v>
                </c:pt>
                <c:pt idx="3">
                  <c:v>17</c:v>
                </c:pt>
                <c:pt idx="4">
                  <c:v>13</c:v>
                </c:pt>
                <c:pt idx="5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B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B1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43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432A"/>
                </a:solidFill>
                <a:latin typeface="+mn-lt"/>
              </a:rPr>
              <a:t>Strike rate (histogram)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Players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&lt;100</c:v>
                  </c:pt>
                  <c:pt idx="1">
                    <c:v>100-120</c:v>
                  </c:pt>
                  <c:pt idx="2">
                    <c:v>120-130</c:v>
                  </c:pt>
                  <c:pt idx="3">
                    <c:v>130-140</c:v>
                  </c:pt>
                  <c:pt idx="4">
                    <c:v>140-160</c:v>
                  </c:pt>
                  <c:pt idx="5">
                    <c:v>160+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</c:v>
                </c:pt>
                <c:pt idx="1">
                  <c:v>23</c:v>
                </c:pt>
                <c:pt idx="2">
                  <c:v>31</c:v>
                </c:pt>
                <c:pt idx="3">
                  <c:v>25</c:v>
                </c:pt>
                <c:pt idx="4">
                  <c:v>23</c:v>
                </c:pt>
                <c:pt idx="5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B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B1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43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432A"/>
                </a:solidFill>
                <a:latin typeface="+mn-lt"/>
              </a:rPr>
              <a:t>Players by role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Players</c:v>
                </c:pt>
              </c:strCache>
            </c:strRef>
          </c:tx>
          <c:spPr>
            <a:solidFill>
              <a:srgbClr val="1F7A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Batting</c:v>
                  </c:pt>
                  <c:pt idx="1">
                    <c:v>All rounder</c:v>
                  </c:pt>
                  <c:pt idx="2">
                    <c:v>Bowling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59</c:v>
                </c:pt>
                <c:pt idx="2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B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B1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43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432A"/>
                </a:solidFill>
                <a:latin typeface="+mn-lt"/>
              </a:rPr>
              <a:t>Players by country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Players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IND</c:v>
                  </c:pt>
                  <c:pt idx="1">
                    <c:v>WI</c:v>
                  </c:pt>
                  <c:pt idx="2">
                    <c:v>AUS</c:v>
                  </c:pt>
                  <c:pt idx="3">
                    <c:v>SA</c:v>
                  </c:pt>
                  <c:pt idx="4">
                    <c:v>NZ</c:v>
                  </c:pt>
                  <c:pt idx="5">
                    <c:v>ENG</c:v>
                  </c:pt>
                  <c:pt idx="6">
                    <c:v>SL</c:v>
                  </c:pt>
                  <c:pt idx="7">
                    <c:v>AFG</c:v>
                  </c:pt>
                  <c:pt idx="8">
                    <c:v>BAN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118</c:v>
                </c:pt>
                <c:pt idx="1">
                  <c:v>14</c:v>
                </c:pt>
                <c:pt idx="2">
                  <c:v>14</c:v>
                </c:pt>
                <c:pt idx="3">
                  <c:v>11</c:v>
                </c:pt>
                <c:pt idx="4">
                  <c:v>9</c:v>
                </c:pt>
                <c:pt idx="5">
                  <c:v>8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B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B1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43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432A"/>
                </a:solidFill>
                <a:latin typeface="+mn-lt"/>
              </a:rPr>
              <a:t>Age distribution (histogram)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Players</c:v>
                </c:pt>
              </c:strCache>
            </c:strRef>
          </c:tx>
          <c:spPr>
            <a:solidFill>
              <a:srgbClr val="1F7A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19-22</c:v>
                  </c:pt>
                  <c:pt idx="1">
                    <c:v>23-26</c:v>
                  </c:pt>
                  <c:pt idx="2">
                    <c:v>27-30</c:v>
                  </c:pt>
                  <c:pt idx="3">
                    <c:v>31-34</c:v>
                  </c:pt>
                  <c:pt idx="4">
                    <c:v>35+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</c:v>
                </c:pt>
                <c:pt idx="1">
                  <c:v>44</c:v>
                </c:pt>
                <c:pt idx="2">
                  <c:v>49</c:v>
                </c:pt>
                <c:pt idx="3">
                  <c:v>52</c:v>
                </c:pt>
                <c:pt idx="4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B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B1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43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432A"/>
                </a:solidFill>
                <a:latin typeface="+mn-lt"/>
              </a:rPr>
              <a:t>Median price by role (₹ crore)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</c:v>
                </c:pt>
              </c:strCache>
            </c:strRef>
          </c:tx>
          <c:spPr>
            <a:solidFill>
              <a:srgbClr val="C8402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All rounder</c:v>
                  </c:pt>
                  <c:pt idx="1">
                    <c:v>Batting</c:v>
                  </c:pt>
                  <c:pt idx="2">
                    <c:v>Bowling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2.8</c:v>
                </c:pt>
                <c:pt idx="2">
                  <c:v>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1B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B1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43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432A"/>
                </a:solidFill>
                <a:latin typeface="+mn-lt"/>
              </a:rPr>
              <a:t>Price (₹ crore) vs career runs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(₹ cr)</c:v>
                </c:pt>
              </c:strCache>
            </c:strRef>
          </c:tx>
          <c:spPr>
            <a:solidFill>
              <a:srgbClr val="1F7A4D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1F7A4D"/>
              </a:solidFill>
              <a:ln w="9525" cap="flat">
                <a:solidFill>
                  <a:srgbClr val="1F7A4D"/>
                </a:solidFill>
                <a:prstDash val="solid"/>
                <a:round/>
              </a:ln>
              <a:effectLst/>
            </c:spPr>
          </c:marker>
          <c:xVal>
            <c:numRef>
              <c:f>Sheet1!$A$2:$A$126</c:f>
              <c:numCache>
                <c:formatCode>General</c:formatCode>
                <c:ptCount val="125"/>
                <c:pt idx="0">
                  <c:v>1207</c:v>
                </c:pt>
                <c:pt idx="1">
                  <c:v>688</c:v>
                </c:pt>
                <c:pt idx="2">
                  <c:v>4190</c:v>
                </c:pt>
                <c:pt idx="3">
                  <c:v>252</c:v>
                </c:pt>
                <c:pt idx="4">
                  <c:v>910</c:v>
                </c:pt>
                <c:pt idx="5">
                  <c:v>4978</c:v>
                </c:pt>
                <c:pt idx="6">
                  <c:v>2502</c:v>
                </c:pt>
                <c:pt idx="7">
                  <c:v>44</c:v>
                </c:pt>
                <c:pt idx="8">
                  <c:v>73</c:v>
                </c:pt>
                <c:pt idx="9">
                  <c:v>1560</c:v>
                </c:pt>
                <c:pt idx="10">
                  <c:v>54</c:v>
                </c:pt>
                <c:pt idx="11">
                  <c:v>75</c:v>
                </c:pt>
                <c:pt idx="12">
                  <c:v>5881</c:v>
                </c:pt>
                <c:pt idx="13">
                  <c:v>2338</c:v>
                </c:pt>
                <c:pt idx="14">
                  <c:v>1588</c:v>
                </c:pt>
                <c:pt idx="15">
                  <c:v>476</c:v>
                </c:pt>
                <c:pt idx="16">
                  <c:v>250</c:v>
                </c:pt>
                <c:pt idx="17">
                  <c:v>1135</c:v>
                </c:pt>
                <c:pt idx="18">
                  <c:v>229</c:v>
                </c:pt>
                <c:pt idx="19">
                  <c:v>173</c:v>
                </c:pt>
                <c:pt idx="20">
                  <c:v>532</c:v>
                </c:pt>
                <c:pt idx="21">
                  <c:v>1692</c:v>
                </c:pt>
                <c:pt idx="22">
                  <c:v>199</c:v>
                </c:pt>
                <c:pt idx="23">
                  <c:v>31</c:v>
                </c:pt>
                <c:pt idx="24">
                  <c:v>1963</c:v>
                </c:pt>
                <c:pt idx="25">
                  <c:v>1900</c:v>
                </c:pt>
                <c:pt idx="26">
                  <c:v>2455</c:v>
                </c:pt>
                <c:pt idx="27">
                  <c:v>2427</c:v>
                </c:pt>
                <c:pt idx="28">
                  <c:v>738</c:v>
                </c:pt>
                <c:pt idx="29">
                  <c:v>179</c:v>
                </c:pt>
                <c:pt idx="30">
                  <c:v>145</c:v>
                </c:pt>
                <c:pt idx="31">
                  <c:v>108</c:v>
                </c:pt>
                <c:pt idx="32">
                  <c:v>313</c:v>
                </c:pt>
                <c:pt idx="33">
                  <c:v>731</c:v>
                </c:pt>
                <c:pt idx="34">
                  <c:v>2776</c:v>
                </c:pt>
                <c:pt idx="35">
                  <c:v>2181</c:v>
                </c:pt>
                <c:pt idx="36">
                  <c:v>2035</c:v>
                </c:pt>
                <c:pt idx="37">
                  <c:v>552</c:v>
                </c:pt>
                <c:pt idx="38">
                  <c:v>251</c:v>
                </c:pt>
                <c:pt idx="39">
                  <c:v>503</c:v>
                </c:pt>
                <c:pt idx="40">
                  <c:v>4074</c:v>
                </c:pt>
                <c:pt idx="41">
                  <c:v>1025</c:v>
                </c:pt>
                <c:pt idx="42">
                  <c:v>379</c:v>
                </c:pt>
                <c:pt idx="43">
                  <c:v>3</c:v>
                </c:pt>
                <c:pt idx="44">
                  <c:v>26</c:v>
                </c:pt>
                <c:pt idx="45">
                  <c:v>61</c:v>
                </c:pt>
                <c:pt idx="46">
                  <c:v>21</c:v>
                </c:pt>
                <c:pt idx="47">
                  <c:v>4</c:v>
                </c:pt>
                <c:pt idx="48">
                  <c:v>51</c:v>
                </c:pt>
                <c:pt idx="49">
                  <c:v>3889</c:v>
                </c:pt>
                <c:pt idx="50">
                  <c:v>2764</c:v>
                </c:pt>
                <c:pt idx="51">
                  <c:v>1236</c:v>
                </c:pt>
                <c:pt idx="52">
                  <c:v>1326</c:v>
                </c:pt>
                <c:pt idx="53">
                  <c:v>161</c:v>
                </c:pt>
                <c:pt idx="54">
                  <c:v>1070</c:v>
                </c:pt>
                <c:pt idx="55">
                  <c:v>3648</c:v>
                </c:pt>
                <c:pt idx="56">
                  <c:v>654</c:v>
                </c:pt>
                <c:pt idx="57">
                  <c:v>247</c:v>
                </c:pt>
                <c:pt idx="58">
                  <c:v>1073</c:v>
                </c:pt>
                <c:pt idx="59">
                  <c:v>4</c:v>
                </c:pt>
                <c:pt idx="60">
                  <c:v>186</c:v>
                </c:pt>
                <c:pt idx="61">
                  <c:v>1870</c:v>
                </c:pt>
                <c:pt idx="62">
                  <c:v>397</c:v>
                </c:pt>
                <c:pt idx="63">
                  <c:v>2644</c:v>
                </c:pt>
                <c:pt idx="64">
                  <c:v>5879</c:v>
                </c:pt>
                <c:pt idx="65">
                  <c:v>187</c:v>
                </c:pt>
                <c:pt idx="66">
                  <c:v>161</c:v>
                </c:pt>
                <c:pt idx="67">
                  <c:v>45</c:v>
                </c:pt>
                <c:pt idx="68">
                  <c:v>43</c:v>
                </c:pt>
                <c:pt idx="69">
                  <c:v>44</c:v>
                </c:pt>
                <c:pt idx="70">
                  <c:v>106</c:v>
                </c:pt>
                <c:pt idx="71">
                  <c:v>29</c:v>
                </c:pt>
                <c:pt idx="72">
                  <c:v>14</c:v>
                </c:pt>
                <c:pt idx="73">
                  <c:v>3</c:v>
                </c:pt>
                <c:pt idx="74">
                  <c:v>2</c:v>
                </c:pt>
                <c:pt idx="75">
                  <c:v>6243</c:v>
                </c:pt>
                <c:pt idx="76">
                  <c:v>549</c:v>
                </c:pt>
                <c:pt idx="77">
                  <c:v>1291</c:v>
                </c:pt>
                <c:pt idx="78">
                  <c:v>234</c:v>
                </c:pt>
                <c:pt idx="79">
                  <c:v>206</c:v>
                </c:pt>
                <c:pt idx="80">
                  <c:v>2331</c:v>
                </c:pt>
                <c:pt idx="81">
                  <c:v>270</c:v>
                </c:pt>
                <c:pt idx="82">
                  <c:v>51</c:v>
                </c:pt>
                <c:pt idx="83">
                  <c:v>190</c:v>
                </c:pt>
                <c:pt idx="84">
                  <c:v>106</c:v>
                </c:pt>
                <c:pt idx="85">
                  <c:v>64</c:v>
                </c:pt>
                <c:pt idx="86">
                  <c:v>11</c:v>
                </c:pt>
                <c:pt idx="87">
                  <c:v>4</c:v>
                </c:pt>
                <c:pt idx="88">
                  <c:v>3403</c:v>
                </c:pt>
                <c:pt idx="89">
                  <c:v>6624</c:v>
                </c:pt>
                <c:pt idx="90">
                  <c:v>404</c:v>
                </c:pt>
                <c:pt idx="91">
                  <c:v>4376</c:v>
                </c:pt>
                <c:pt idx="92">
                  <c:v>2309</c:v>
                </c:pt>
                <c:pt idx="93">
                  <c:v>279</c:v>
                </c:pt>
                <c:pt idx="94">
                  <c:v>129</c:v>
                </c:pt>
                <c:pt idx="95">
                  <c:v>267</c:v>
                </c:pt>
                <c:pt idx="96">
                  <c:v>67</c:v>
                </c:pt>
                <c:pt idx="97">
                  <c:v>230</c:v>
                </c:pt>
                <c:pt idx="98">
                  <c:v>39</c:v>
                </c:pt>
                <c:pt idx="99">
                  <c:v>18</c:v>
                </c:pt>
                <c:pt idx="100">
                  <c:v>2831</c:v>
                </c:pt>
                <c:pt idx="101">
                  <c:v>3526</c:v>
                </c:pt>
                <c:pt idx="102">
                  <c:v>1260</c:v>
                </c:pt>
                <c:pt idx="103">
                  <c:v>831</c:v>
                </c:pt>
                <c:pt idx="104">
                  <c:v>547</c:v>
                </c:pt>
                <c:pt idx="105">
                  <c:v>647</c:v>
                </c:pt>
                <c:pt idx="106">
                  <c:v>522</c:v>
                </c:pt>
                <c:pt idx="107">
                  <c:v>33</c:v>
                </c:pt>
                <c:pt idx="108">
                  <c:v>92</c:v>
                </c:pt>
                <c:pt idx="109">
                  <c:v>22</c:v>
                </c:pt>
                <c:pt idx="110">
                  <c:v>1496</c:v>
                </c:pt>
                <c:pt idx="111">
                  <c:v>667</c:v>
                </c:pt>
                <c:pt idx="112">
                  <c:v>1798</c:v>
                </c:pt>
                <c:pt idx="113">
                  <c:v>527</c:v>
                </c:pt>
                <c:pt idx="114">
                  <c:v>912</c:v>
                </c:pt>
                <c:pt idx="115">
                  <c:v>2101</c:v>
                </c:pt>
                <c:pt idx="116">
                  <c:v>318</c:v>
                </c:pt>
                <c:pt idx="117">
                  <c:v>69</c:v>
                </c:pt>
                <c:pt idx="118">
                  <c:v>58</c:v>
                </c:pt>
                <c:pt idx="119">
                  <c:v>215</c:v>
                </c:pt>
                <c:pt idx="120">
                  <c:v>180</c:v>
                </c:pt>
                <c:pt idx="121">
                  <c:v>9</c:v>
                </c:pt>
                <c:pt idx="122">
                  <c:v>22</c:v>
                </c:pt>
                <c:pt idx="123">
                  <c:v>226</c:v>
                </c:pt>
                <c:pt idx="124">
                  <c:v>70</c:v>
                </c:pt>
              </c:numCache>
            </c:numRef>
          </c:xVal>
          <c:yVal>
            <c:numRef>
              <c:f>Sheet1!$B$2:$B$126</c:f>
              <c:numCache>
                <c:formatCode>General</c:formatCode>
                <c:ptCount val="125"/>
                <c:pt idx="0">
                  <c:v>6</c:v>
                </c:pt>
                <c:pt idx="1">
                  <c:v>4</c:v>
                </c:pt>
                <c:pt idx="2">
                  <c:v>6.75</c:v>
                </c:pt>
                <c:pt idx="3">
                  <c:v>1</c:v>
                </c:pt>
                <c:pt idx="4">
                  <c:v>8</c:v>
                </c:pt>
                <c:pt idx="5">
                  <c:v>12</c:v>
                </c:pt>
                <c:pt idx="6">
                  <c:v>16</c:v>
                </c:pt>
                <c:pt idx="7">
                  <c:v>0.5</c:v>
                </c:pt>
                <c:pt idx="8">
                  <c:v>0.2</c:v>
                </c:pt>
                <c:pt idx="9">
                  <c:v>4.4</c:v>
                </c:pt>
                <c:pt idx="10">
                  <c:v>1.9</c:v>
                </c:pt>
                <c:pt idx="11">
                  <c:v>3.6</c:v>
                </c:pt>
                <c:pt idx="12">
                  <c:v>6.25</c:v>
                </c:pt>
                <c:pt idx="13">
                  <c:v>16</c:v>
                </c:pt>
                <c:pt idx="14">
                  <c:v>7.5</c:v>
                </c:pt>
                <c:pt idx="15">
                  <c:v>6.5</c:v>
                </c:pt>
                <c:pt idx="16">
                  <c:v>2.8</c:v>
                </c:pt>
                <c:pt idx="17">
                  <c:v>9</c:v>
                </c:pt>
                <c:pt idx="18">
                  <c:v>0.65</c:v>
                </c:pt>
                <c:pt idx="19">
                  <c:v>10.75</c:v>
                </c:pt>
                <c:pt idx="20">
                  <c:v>0.2</c:v>
                </c:pt>
                <c:pt idx="21">
                  <c:v>1.1</c:v>
                </c:pt>
                <c:pt idx="22">
                  <c:v>2</c:v>
                </c:pt>
                <c:pt idx="23">
                  <c:v>0.2</c:v>
                </c:pt>
                <c:pt idx="24">
                  <c:v>15</c:v>
                </c:pt>
                <c:pt idx="25">
                  <c:v>8</c:v>
                </c:pt>
                <c:pt idx="26">
                  <c:v>3</c:v>
                </c:pt>
                <c:pt idx="27">
                  <c:v>1.9</c:v>
                </c:pt>
                <c:pt idx="28">
                  <c:v>9</c:v>
                </c:pt>
                <c:pt idx="29">
                  <c:v>2.4</c:v>
                </c:pt>
                <c:pt idx="30">
                  <c:v>0.2</c:v>
                </c:pt>
                <c:pt idx="31">
                  <c:v>2.6</c:v>
                </c:pt>
                <c:pt idx="32">
                  <c:v>15</c:v>
                </c:pt>
                <c:pt idx="33">
                  <c:v>1.4</c:v>
                </c:pt>
                <c:pt idx="34">
                  <c:v>12.25</c:v>
                </c:pt>
                <c:pt idx="35">
                  <c:v>8</c:v>
                </c:pt>
                <c:pt idx="36">
                  <c:v>12</c:v>
                </c:pt>
                <c:pt idx="37">
                  <c:v>8</c:v>
                </c:pt>
                <c:pt idx="38">
                  <c:v>0.55</c:v>
                </c:pt>
                <c:pt idx="39">
                  <c:v>2</c:v>
                </c:pt>
                <c:pt idx="40">
                  <c:v>1</c:v>
                </c:pt>
                <c:pt idx="41">
                  <c:v>6</c:v>
                </c:pt>
                <c:pt idx="42">
                  <c:v>7.25</c:v>
                </c:pt>
                <c:pt idx="43">
                  <c:v>2</c:v>
                </c:pt>
                <c:pt idx="44">
                  <c:v>0.5</c:v>
                </c:pt>
                <c:pt idx="45">
                  <c:v>0.6</c:v>
                </c:pt>
                <c:pt idx="46">
                  <c:v>0.2</c:v>
                </c:pt>
                <c:pt idx="47">
                  <c:v>0.4</c:v>
                </c:pt>
                <c:pt idx="48">
                  <c:v>7.25</c:v>
                </c:pt>
                <c:pt idx="49">
                  <c:v>17</c:v>
                </c:pt>
                <c:pt idx="50">
                  <c:v>6.75</c:v>
                </c:pt>
                <c:pt idx="51">
                  <c:v>5.75</c:v>
                </c:pt>
                <c:pt idx="52">
                  <c:v>8.25</c:v>
                </c:pt>
                <c:pt idx="53">
                  <c:v>0.2</c:v>
                </c:pt>
                <c:pt idx="54">
                  <c:v>9.2</c:v>
                </c:pt>
                <c:pt idx="55">
                  <c:v>4.6</c:v>
                </c:pt>
                <c:pt idx="56">
                  <c:v>2</c:v>
                </c:pt>
                <c:pt idx="57">
                  <c:v>8.75</c:v>
                </c:pt>
                <c:pt idx="58">
                  <c:v>0.2</c:v>
                </c:pt>
                <c:pt idx="59">
                  <c:v>0.2</c:v>
                </c:pt>
                <c:pt idx="60">
                  <c:v>0.9</c:v>
                </c:pt>
                <c:pt idx="61">
                  <c:v>15.25</c:v>
                </c:pt>
                <c:pt idx="62">
                  <c:v>1.7</c:v>
                </c:pt>
                <c:pt idx="63">
                  <c:v>8</c:v>
                </c:pt>
                <c:pt idx="64">
                  <c:v>16</c:v>
                </c:pt>
                <c:pt idx="65">
                  <c:v>8.25</c:v>
                </c:pt>
                <c:pt idx="66">
                  <c:v>3</c:v>
                </c:pt>
                <c:pt idx="67">
                  <c:v>0.2</c:v>
                </c:pt>
                <c:pt idx="68">
                  <c:v>0.2</c:v>
                </c:pt>
                <c:pt idx="69">
                  <c:v>2.6</c:v>
                </c:pt>
                <c:pt idx="70">
                  <c:v>1</c:v>
                </c:pt>
                <c:pt idx="71">
                  <c:v>0.2</c:v>
                </c:pt>
                <c:pt idx="72">
                  <c:v>0.75</c:v>
                </c:pt>
                <c:pt idx="73">
                  <c:v>0.2</c:v>
                </c:pt>
                <c:pt idx="74">
                  <c:v>0.2</c:v>
                </c:pt>
                <c:pt idx="75">
                  <c:v>8.25</c:v>
                </c:pt>
                <c:pt idx="76">
                  <c:v>11.5</c:v>
                </c:pt>
                <c:pt idx="77">
                  <c:v>6.75</c:v>
                </c:pt>
                <c:pt idx="78">
                  <c:v>0.2</c:v>
                </c:pt>
                <c:pt idx="79">
                  <c:v>0.5</c:v>
                </c:pt>
                <c:pt idx="80">
                  <c:v>14</c:v>
                </c:pt>
                <c:pt idx="81">
                  <c:v>9</c:v>
                </c:pt>
                <c:pt idx="82">
                  <c:v>6</c:v>
                </c:pt>
                <c:pt idx="83">
                  <c:v>0.55</c:v>
                </c:pt>
                <c:pt idx="84">
                  <c:v>3.8</c:v>
                </c:pt>
                <c:pt idx="85">
                  <c:v>0.6</c:v>
                </c:pt>
                <c:pt idx="86">
                  <c:v>2</c:v>
                </c:pt>
                <c:pt idx="87">
                  <c:v>0.2</c:v>
                </c:pt>
                <c:pt idx="88">
                  <c:v>7</c:v>
                </c:pt>
                <c:pt idx="89">
                  <c:v>15</c:v>
                </c:pt>
                <c:pt idx="90">
                  <c:v>0.2</c:v>
                </c:pt>
                <c:pt idx="91">
                  <c:v>5.5</c:v>
                </c:pt>
                <c:pt idx="92">
                  <c:v>11</c:v>
                </c:pt>
                <c:pt idx="93">
                  <c:v>2.4</c:v>
                </c:pt>
                <c:pt idx="94">
                  <c:v>3.2</c:v>
                </c:pt>
                <c:pt idx="95">
                  <c:v>0.95</c:v>
                </c:pt>
                <c:pt idx="96">
                  <c:v>0.3</c:v>
                </c:pt>
                <c:pt idx="97">
                  <c:v>10.75</c:v>
                </c:pt>
                <c:pt idx="98">
                  <c:v>10.75</c:v>
                </c:pt>
                <c:pt idx="99">
                  <c:v>2</c:v>
                </c:pt>
                <c:pt idx="100">
                  <c:v>10</c:v>
                </c:pt>
                <c:pt idx="101">
                  <c:v>14</c:v>
                </c:pt>
                <c:pt idx="102">
                  <c:v>7.75</c:v>
                </c:pt>
                <c:pt idx="103">
                  <c:v>8.5</c:v>
                </c:pt>
                <c:pt idx="104">
                  <c:v>4</c:v>
                </c:pt>
                <c:pt idx="105">
                  <c:v>5</c:v>
                </c:pt>
                <c:pt idx="106">
                  <c:v>3.8</c:v>
                </c:pt>
                <c:pt idx="107">
                  <c:v>0.75</c:v>
                </c:pt>
                <c:pt idx="108">
                  <c:v>1.5</c:v>
                </c:pt>
                <c:pt idx="109">
                  <c:v>1</c:v>
                </c:pt>
                <c:pt idx="110">
                  <c:v>1.4</c:v>
                </c:pt>
                <c:pt idx="111">
                  <c:v>6.5</c:v>
                </c:pt>
                <c:pt idx="112">
                  <c:v>8.5</c:v>
                </c:pt>
                <c:pt idx="113">
                  <c:v>2.6</c:v>
                </c:pt>
                <c:pt idx="114">
                  <c:v>10.75</c:v>
                </c:pt>
                <c:pt idx="115">
                  <c:v>14</c:v>
                </c:pt>
                <c:pt idx="116">
                  <c:v>8.75</c:v>
                </c:pt>
                <c:pt idx="117">
                  <c:v>0.2</c:v>
                </c:pt>
                <c:pt idx="118">
                  <c:v>7.75</c:v>
                </c:pt>
                <c:pt idx="119">
                  <c:v>0.2</c:v>
                </c:pt>
                <c:pt idx="120">
                  <c:v>0.75</c:v>
                </c:pt>
                <c:pt idx="121">
                  <c:v>4.2</c:v>
                </c:pt>
                <c:pt idx="122">
                  <c:v>2.4</c:v>
                </c:pt>
                <c:pt idx="123">
                  <c:v>4</c:v>
                </c:pt>
                <c:pt idx="124">
                  <c:v>0.2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Career runs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₹ crore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AF3EC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F7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5176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AF3EC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14432A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8F7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8F7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Player Statistics Visualization Using PCA and UMAP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3EC"/>
                </a:solidFill>
              </a:rPr>
              <a:t>Machine Learning Project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3EC"/>
                </a:solidFill>
              </a:rPr>
              <a:t>Problem definition, data understanding, preprocessing, EDA and feature engineering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1. Problem Definition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51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3EC"/>
                </a:solidFill>
              </a:rPr>
              <a:t>What we solve, why it matters, who benefits, and what we deliver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432A"/>
                </a:solidFill>
              </a:rPr>
              <a:t>What problem are we solving?</a:t>
            </a:r>
            <a:endParaRPr lang="en-US" sz="2800" dirty="0"/>
          </a:p>
        </p:txBody>
      </p:sp>
      <p:sp>
        <p:nvSpPr>
          <p:cNvPr id="3" name="prob0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The problem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Each player has 50+ correlated statistics (runs, strike rate, wickets, economy). In raw tables, similar players and hidden patterns are hard to spot.</a:t>
            </a:r>
            <a:endParaRPr lang="en-US" sz="1400" dirty="0"/>
          </a:p>
        </p:txBody>
      </p:sp>
      <p:sp>
        <p:nvSpPr>
          <p:cNvPr id="5" name="prob1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46320" y="13258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Why it matters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Teams spend up to ₹17 crore on one player. Seeing who is truly similar, or an outlier, supports fairer comparison and smarter selection.</a:t>
            </a:r>
            <a:endParaRPr lang="en-US" sz="1400" dirty="0"/>
          </a:p>
        </p:txBody>
      </p:sp>
      <p:sp>
        <p:nvSpPr>
          <p:cNvPr id="7" name="prob2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0175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Who will use it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Analysts, coaches and team management for player profiling; fans and students for exploring performance data.</a:t>
            </a:r>
            <a:endParaRPr lang="en-US" sz="1400" dirty="0"/>
          </a:p>
        </p:txBody>
      </p:sp>
      <p:sp>
        <p:nvSpPr>
          <p:cNvPr id="9" name="prob3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30175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Expected output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2D PCA and UMAP maps that group players by style, flag outliers, and show which statistics drive the differences.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8F7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2. Dataset Collection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51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3EC"/>
                </a:solidFill>
              </a:rPr>
              <a:t>Source, structure, target and size of the data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432A"/>
                </a:solidFill>
              </a:rPr>
              <a:t>Dataset overview</a:t>
            </a:r>
            <a:endParaRPr lang="en-US" sz="2800" dirty="0"/>
          </a:p>
        </p:txBody>
      </p:sp>
      <p:sp>
        <p:nvSpPr>
          <p:cNvPr id="3" name="ds0"/>
          <p:cNvSpPr/>
          <p:nvPr/>
        </p:nvSpPr>
        <p:spPr>
          <a:xfrm>
            <a:off x="457200" y="118872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rows (players)</a:t>
            </a:r>
            <a:endParaRPr lang="en-US" sz="1300" dirty="0"/>
          </a:p>
        </p:txBody>
      </p:sp>
      <p:sp>
        <p:nvSpPr>
          <p:cNvPr id="6" name="ds1"/>
          <p:cNvSpPr/>
          <p:nvPr/>
        </p:nvSpPr>
        <p:spPr>
          <a:xfrm>
            <a:off x="2560320" y="118872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columns</a:t>
            </a:r>
            <a:endParaRPr lang="en-US" sz="1300" dirty="0"/>
          </a:p>
        </p:txBody>
      </p:sp>
      <p:sp>
        <p:nvSpPr>
          <p:cNvPr id="9" name="ds2"/>
          <p:cNvSpPr/>
          <p:nvPr/>
        </p:nvSpPr>
        <p:spPr>
          <a:xfrm>
            <a:off x="4663440" y="118872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teams</a:t>
            </a:r>
            <a:endParaRPr lang="en-US" sz="1300" dirty="0"/>
          </a:p>
        </p:txBody>
      </p:sp>
      <p:sp>
        <p:nvSpPr>
          <p:cNvPr id="12" name="ds3"/>
          <p:cNvSpPr/>
          <p:nvPr/>
        </p:nvSpPr>
        <p:spPr>
          <a:xfrm>
            <a:off x="6766560" y="118872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countries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92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3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IPL player statistics file: player_statistics.csv (career IPL and a second-format record per player)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CSV, one row per player; downloaded and loaded with pandas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/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supervised target. Paying_Role (Batting, Bowling, All rounder) is used to colour and validate the maps; SOLD_PRICE is a secondary outcome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 rows × 53 columns, no duplicate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8F7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432A"/>
                </a:solidFill>
              </a:rPr>
              <a:t>Understanding the 53 columns</a:t>
            </a:r>
            <a:endParaRPr lang="en-US" sz="2800" dirty="0"/>
          </a:p>
        </p:txBody>
      </p:sp>
      <p:sp>
        <p:nvSpPr>
          <p:cNvPr id="3" name="grp0"/>
          <p:cNvSpPr/>
          <p:nvPr/>
        </p:nvSpPr>
        <p:spPr>
          <a:xfrm>
            <a:off x="457200" y="114300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ot0"/>
          <p:cNvSpPr/>
          <p:nvPr/>
        </p:nvSpPr>
        <p:spPr>
          <a:xfrm>
            <a:off x="594360" y="1298448"/>
            <a:ext cx="274320" cy="274320"/>
          </a:xfrm>
          <a:prstGeom prst="ellipse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143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Profile (6)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14300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Player, COUNTRY, TEAM, AGE, CAPTAINCY EXP, Paying_Role</a:t>
            </a:r>
            <a:endParaRPr lang="en-US" sz="1200" dirty="0"/>
          </a:p>
        </p:txBody>
      </p:sp>
      <p:sp>
        <p:nvSpPr>
          <p:cNvPr id="7" name="grp1"/>
          <p:cNvSpPr/>
          <p:nvPr/>
        </p:nvSpPr>
        <p:spPr>
          <a:xfrm>
            <a:off x="457200" y="182880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dot1"/>
          <p:cNvSpPr/>
          <p:nvPr/>
        </p:nvSpPr>
        <p:spPr>
          <a:xfrm>
            <a:off x="594360" y="1984248"/>
            <a:ext cx="274320" cy="2743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828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IPL batting (16)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182880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Mat, Inns, Runs, BF, HS, Avg, SR, NO, 4s, 6s, 0s, 50s, 100s</a:t>
            </a:r>
            <a:endParaRPr lang="en-US" sz="1200" dirty="0"/>
          </a:p>
        </p:txBody>
      </p:sp>
      <p:sp>
        <p:nvSpPr>
          <p:cNvPr id="11" name="grp2"/>
          <p:cNvSpPr/>
          <p:nvPr/>
        </p:nvSpPr>
        <p:spPr>
          <a:xfrm>
            <a:off x="457200" y="251460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dot2"/>
          <p:cNvSpPr/>
          <p:nvPr/>
        </p:nvSpPr>
        <p:spPr>
          <a:xfrm>
            <a:off x="594360" y="2670048"/>
            <a:ext cx="274320" cy="274320"/>
          </a:xfrm>
          <a:prstGeom prst="ellipse">
            <a:avLst/>
          </a:prstGeom>
          <a:solidFill>
            <a:srgbClr val="C8402F"/>
          </a:solidFill>
          <a:ln w="12700">
            <a:solidFill>
              <a:srgbClr val="C840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2514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IPL bowling (10)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51460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B_Inns, B_Balls, B_Runs, B_Maidens, B_Wkts, B_Avg, B_Econ, B_SR, B_4w, B_5w</a:t>
            </a:r>
            <a:endParaRPr lang="en-US" sz="1200" dirty="0"/>
          </a:p>
        </p:txBody>
      </p:sp>
      <p:sp>
        <p:nvSpPr>
          <p:cNvPr id="15" name="grp3"/>
          <p:cNvSpPr/>
          <p:nvPr/>
        </p:nvSpPr>
        <p:spPr>
          <a:xfrm>
            <a:off x="457200" y="320040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dot3"/>
          <p:cNvSpPr/>
          <p:nvPr/>
        </p:nvSpPr>
        <p:spPr>
          <a:xfrm>
            <a:off x="594360" y="3355848"/>
            <a:ext cx="274320" cy="274320"/>
          </a:xfrm>
          <a:prstGeom prst="ellipse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32004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Second-format batting and bowling (20)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320040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TMat to T100s and B_TInns to B_T5w; prefix T marks the second record set</a:t>
            </a:r>
            <a:endParaRPr lang="en-US" sz="1200" dirty="0"/>
          </a:p>
        </p:txBody>
      </p:sp>
      <p:sp>
        <p:nvSpPr>
          <p:cNvPr id="19" name="grp4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dot4"/>
          <p:cNvSpPr/>
          <p:nvPr/>
        </p:nvSpPr>
        <p:spPr>
          <a:xfrm>
            <a:off x="594360" y="4041648"/>
            <a:ext cx="274320" cy="274320"/>
          </a:xfrm>
          <a:prstGeom prst="ellipse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38862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Price (1)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388620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SOLD_PRICE, stored as text such as "6cr" or "50l"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8F7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3. Data Understanding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51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3EC"/>
                </a:solidFill>
              </a:rPr>
              <a:t>Records, types, missing values, duplicates, uniques and distributions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432A"/>
                </a:solidFill>
              </a:rPr>
              <a:t>Basic structure and quality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3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 players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 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numeric (3 int, 44 float), 6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that is really numeric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and SOLD_PRICE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(all 182 player names unique)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9, Team 10, Role 3, Age 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(IPL cols), 53% (second-format)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5760720" y="1097280"/>
          <a:ext cx="3017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Missing values are mostly structural: pure bowlers have no batting record and vice versa.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8F7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432A"/>
                </a:solidFill>
              </a:rPr>
              <a:t>Statistical summary of key features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1005840"/>
                <a:gridCol w="1005840"/>
                <a:gridCol w="1005840"/>
                <a:gridCol w="100584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3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(Mat)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Strike rate (SR)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Wickets (B_Wkts)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(₹ crore)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Reading the table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Mean is far above median for Runs, Wickets and Price: a few stars pull the averages up (right-skewed).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Scales differ by orders of magnitude (runs in thousands, age in tens), so standardization is required before PCA.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8F7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432A"/>
                </a:solidFill>
              </a:rPr>
              <a:t>Distribution of important features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754880" y="1097280"/>
          <a:ext cx="4023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Runs are heavily right-skewed (55 players under 250 runs); strike rate is roughly bell-shaped around 128.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8F7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4. Data Preprocessing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51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3EC"/>
                </a:solidFill>
              </a:rPr>
              <a:t>Missing values, duplicates, outliers, incorrect data and variable types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432A"/>
                </a:solidFill>
              </a:rPr>
              <a:t>Issues found and how we fix them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56616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3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 players no batting, 67 no bowling; second-format columns 53% empty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 to 0; rates to role median; drop second-format 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duplicate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Markande economy 805; Mankad SR 400 (4 runs); Tim David SR 210 (9 inns)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impossible values missing; require minimum innings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Incorrect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Umesh Yadav not-outs 137.5; Avg and SOLD_PRICE stored as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or drop; convert to numbers (price to ₹ crore)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COUNTRY, TEAM, Paying_Role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 encode; keep Paying_Role for colouring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numeric columns on very different scales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 before PCA and UMAP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8F7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5. Exploratory Data Analysis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51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3EC"/>
                </a:solidFill>
              </a:rPr>
              <a:t>Count plots, histograms, box plots, scatter plot and correlation heatmap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432A"/>
                </a:solidFill>
              </a:rPr>
              <a:t>Count plots: roles and countries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38404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480560" y="1097280"/>
          <a:ext cx="42976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Roles are balanced; 65% of players are Indian. Every team has 15 to 21 players.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8F7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432A"/>
                </a:solidFill>
              </a:rPr>
              <a:t>Age and auction price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023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1097280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Most players are 23 to 34 (median 29). All-rounders command the highest prices.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8F7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432A"/>
                </a:solidFill>
              </a:rPr>
              <a:t>Box plots: outliers and spread</a:t>
            </a:r>
            <a:endParaRPr lang="en-US" sz="2800" dirty="0"/>
          </a:p>
        </p:txBody>
      </p:sp>
      <p:pic>
        <p:nvPicPr>
          <p:cNvPr id="3" name="boxplot" descr="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94960" cy="2770632"/>
          </a:xfrm>
          <a:prstGeom prst="rect">
            <a:avLst/>
          </a:prstGeom>
        </p:spPr>
      </p:pic>
      <p:sp>
        <p:nvSpPr>
          <p:cNvPr id="4" name="box card"/>
          <p:cNvSpPr/>
          <p:nvPr/>
        </p:nvSpPr>
        <p:spPr>
          <a:xfrm>
            <a:off x="6126480" y="1188720"/>
            <a:ext cx="2560320" cy="27432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09360" y="132588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What we see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All-rounders have the highest median price.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9 players are run outliers (top scorers such as Kohli, 6,624 runs); they are real, so we keep them.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8F7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432A"/>
                </a:solidFill>
              </a:rPr>
              <a:t>Scatter plot: runs vs auction price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c card"/>
          <p:cNvSpPr/>
          <p:nvPr/>
        </p:nvSpPr>
        <p:spPr>
          <a:xfrm>
            <a:off x="5852160" y="1188720"/>
            <a:ext cx="2834640" cy="310896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32588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Insight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Correlation r = 0.55: more runs generally means a higher price.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Wide scatter at every level shows price also reflects role, age and reputation, not runs alone.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8F7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432A"/>
                </a:solidFill>
              </a:rPr>
              <a:t>Correlation heatmap</a:t>
            </a:r>
            <a:endParaRPr lang="en-US" sz="2800" dirty="0"/>
          </a:p>
        </p:txBody>
      </p:sp>
      <p:pic>
        <p:nvPicPr>
          <p:cNvPr id="3" name="heatmap" descr="h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480560" cy="3429000"/>
          </a:xfrm>
          <a:prstGeom prst="rect">
            <a:avLst/>
          </a:prstGeom>
        </p:spPr>
      </p:pic>
      <p:sp>
        <p:nvSpPr>
          <p:cNvPr id="4" name="heat card"/>
          <p:cNvSpPr/>
          <p:nvPr/>
        </p:nvSpPr>
        <p:spPr>
          <a:xfrm>
            <a:off x="5212080" y="1188720"/>
            <a:ext cx="347472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94960" y="132588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Why PCA fits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Runs, 4s, balls faced and innings correlate at 0.95 to 1.00.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Matches, wickets and runs bowled also move together (0.98).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SR, average and economy are only weakly tied to volume, so they add independent signal.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8F7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6. Feature Selection and Engineering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51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3EC"/>
                </a:solidFill>
              </a:rPr>
              <a:t>Which features stay, which go, and which are created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432A"/>
                </a:solidFill>
              </a:rPr>
              <a:t>Features used and removed</a:t>
            </a:r>
            <a:endParaRPr lang="en-US" sz="2800" dirty="0"/>
          </a:p>
        </p:txBody>
      </p:sp>
      <p:sp>
        <p:nvSpPr>
          <p:cNvPr id="3" name="used card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emoved card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Used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Runs, Avg, SR, 6s, 50s, 100s, HS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B_Wkts, B_Avg, B_Econ, B_SR, B_4w, B_5w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Mat, AGE, CAPTAINCY EXP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Paying_Role (colour labels only)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32588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Removed and why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Player: identifier, no signal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All second-format columns: over 50% missing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BF, Inns, 4s, B_Balls, B_Runs: correlation 0.95+ with kept features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TEAM, COUNTRY: not performance; kept only for tooltips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8F7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432A"/>
                </a:solidFill>
              </a:rPr>
              <a:t>New features we create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651760"/>
                <a:gridCol w="3749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3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runs_per_match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/ 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players with different career lengths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boundary_share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(4s×4 + 6s×6) /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Separates power hitters from anchors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wkts_per_match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B_Wkts / 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 bowling impact across careers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is_captain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CAPTAINCY EXP &gt;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leadership flag (19 players)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price_cr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"6cr", "50l"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price in ₹ crore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one-hot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Paying_Role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form of a categorical 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8F7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432A"/>
                </a:solidFill>
              </a:rPr>
              <a:t>Summary and next steps</a:t>
            </a:r>
            <a:endParaRPr lang="en-US" sz="2800" dirty="0"/>
          </a:p>
        </p:txBody>
      </p:sp>
      <p:sp>
        <p:nvSpPr>
          <p:cNvPr id="3" name="sum0"/>
          <p:cNvSpPr/>
          <p:nvPr/>
        </p:nvSpPr>
        <p:spPr>
          <a:xfrm>
            <a:off x="457200" y="1188720"/>
            <a:ext cx="484632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Understood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182 players, 53 columns, no duplicates, structural gaps</a:t>
            </a:r>
            <a:endParaRPr lang="en-US" sz="1400" dirty="0"/>
          </a:p>
        </p:txBody>
      </p:sp>
      <p:sp>
        <p:nvSpPr>
          <p:cNvPr id="5" name="sum1"/>
          <p:cNvSpPr/>
          <p:nvPr/>
        </p:nvSpPr>
        <p:spPr>
          <a:xfrm>
            <a:off x="457200" y="2011680"/>
            <a:ext cx="484632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01168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Cleaned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Fixed text numbers, impossible values and missing data</a:t>
            </a:r>
            <a:endParaRPr lang="en-US" sz="1400" dirty="0"/>
          </a:p>
        </p:txBody>
      </p:sp>
      <p:sp>
        <p:nvSpPr>
          <p:cNvPr id="7" name="sum2"/>
          <p:cNvSpPr/>
          <p:nvPr/>
        </p:nvSpPr>
        <p:spPr>
          <a:xfrm>
            <a:off x="457200" y="2834640"/>
            <a:ext cx="484632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83464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Explored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Skewed counts, role-price link, strong feature overlap</a:t>
            </a:r>
            <a:endParaRPr lang="en-US" sz="1400" dirty="0"/>
          </a:p>
        </p:txBody>
      </p:sp>
      <p:sp>
        <p:nvSpPr>
          <p:cNvPr id="9" name="sum3"/>
          <p:cNvSpPr/>
          <p:nvPr/>
        </p:nvSpPr>
        <p:spPr>
          <a:xfrm>
            <a:off x="457200" y="3657600"/>
            <a:ext cx="484632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65760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Engineered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About 20 compact features, scaled for modelling</a:t>
            </a:r>
            <a:endParaRPr lang="en-US" sz="1400" dirty="0"/>
          </a:p>
        </p:txBody>
      </p:sp>
      <p:sp>
        <p:nvSpPr>
          <p:cNvPr id="11" name="next card"/>
          <p:cNvSpPr/>
          <p:nvPr/>
        </p:nvSpPr>
        <p:spPr>
          <a:xfrm>
            <a:off x="5577840" y="1188720"/>
            <a:ext cx="3108960" cy="3090672"/>
          </a:xfrm>
          <a:prstGeom prst="roundRect">
            <a:avLst>
              <a:gd name="adj" fmla="val 23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0" y="13716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Next steps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Standardize features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Apply PCA, check explained variance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Apply UMAP and tune parameters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Interpret clusters and outliers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8F7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tch">
  <a:themeElements>
    <a:clrScheme name="Pitch">
      <a:dk1>
        <a:srgbClr val="1B1B1B"/>
      </a:dk1>
      <a:lt1>
        <a:srgbClr val="FFFFFF"/>
      </a:lt1>
      <a:dk2>
        <a:srgbClr val="14432A"/>
      </a:dk2>
      <a:lt2>
        <a:srgbClr val="EAF3EC"/>
      </a:lt2>
      <a:accent1>
        <a:srgbClr val="1F7A4D"/>
      </a:accent1>
      <a:accent2>
        <a:srgbClr val="E8A33D"/>
      </a:accent2>
      <a:accent3>
        <a:srgbClr val="C8402F"/>
      </a:accent3>
      <a:accent4>
        <a:srgbClr val="6B8F71"/>
      </a:accent4>
      <a:accent5>
        <a:srgbClr val="2E5E4E"/>
      </a:accent5>
      <a:accent6>
        <a:srgbClr val="9AA5A0"/>
      </a:accent6>
      <a:hlink>
        <a:srgbClr val="1F7A4D"/>
      </a:hlink>
      <a:folHlink>
        <a:srgbClr val="6B8F71"/>
      </a:folHlink>
    </a:clrScheme>
    <a:fontScheme name="Pit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2026-10-13T05:03:11Z</dcterms:created>
  <dcterms:modified xsi:type="dcterms:W3CDTF">2026-10-13T05:03:11Z</dcterms:modified>
</cp:coreProperties>
</file>